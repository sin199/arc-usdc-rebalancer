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9eaf98e4674e1c" /><Relationship Type="http://schemas.openxmlformats.org/officeDocument/2006/relationships/extended-properties" Target="/docProps/app.xml" Id="R42148e37ba234a72" /><Relationship Type="http://schemas.openxmlformats.org/officeDocument/2006/relationships/officeDocument" Target="/ppt/presentation.xml" Id="R4cc3b4c93d8a43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ea24ba053743a9"/>
  </p:sldMasterIdLst>
  <p:notesMasterIdLst>
    <p:notesMasterId xmlns:r="http://schemas.openxmlformats.org/officeDocument/2006/relationships" r:id="R82f3803aa1d34dd7"/>
  </p:notesMasterIdLst>
  <p:sldIdLst>
    <p:sldId xmlns:r="http://schemas.openxmlformats.org/officeDocument/2006/relationships" id="256" r:id="R0abdce08b8514109"/>
    <p:sldId xmlns:r="http://schemas.openxmlformats.org/officeDocument/2006/relationships" id="257" r:id="R36e79bb19e1e40eb"/>
    <p:sldId xmlns:r="http://schemas.openxmlformats.org/officeDocument/2006/relationships" id="258" r:id="Rd7ec020751ee4d8f"/>
    <p:sldId xmlns:r="http://schemas.openxmlformats.org/officeDocument/2006/relationships" id="259" r:id="R1e6a917410fe4d35"/>
    <p:sldId xmlns:r="http://schemas.openxmlformats.org/officeDocument/2006/relationships" id="260" r:id="Reb0aeb9a520b4f27"/>
    <p:sldId xmlns:r="http://schemas.openxmlformats.org/officeDocument/2006/relationships" id="261" r:id="Rc18126e0692b4a31"/>
    <p:sldId xmlns:r="http://schemas.openxmlformats.org/officeDocument/2006/relationships" id="262" r:id="Rc17e5f211f8a431e"/>
    <p:sldId xmlns:r="http://schemas.openxmlformats.org/officeDocument/2006/relationships" id="263" r:id="R333b7548eb8a49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ec3426cd464895" /><Relationship Type="http://schemas.openxmlformats.org/officeDocument/2006/relationships/slideMaster" Target="/ppt/slideMasters/slideMaster1.xml" Id="R59ea24ba053743a9" /><Relationship Type="http://schemas.openxmlformats.org/officeDocument/2006/relationships/notesMaster" Target="/ppt/notesMasters/notesMaster1.xml" Id="R82f3803aa1d34dd7" /><Relationship Type="http://schemas.openxmlformats.org/officeDocument/2006/relationships/presProps" Target="/ppt/presProps.xml" Id="R4624a5a53d954cd2" /><Relationship Type="http://schemas.openxmlformats.org/officeDocument/2006/relationships/tableStyles" Target="/ppt/tableStyles.xml" Id="R0506ee7049e54fa0" /><Relationship Type="http://schemas.openxmlformats.org/officeDocument/2006/relationships/slide" Target="/ppt/slides/slide1.xml" Id="R0abdce08b8514109" /><Relationship Type="http://schemas.openxmlformats.org/officeDocument/2006/relationships/slide" Target="/ppt/slides/slide2.xml" Id="R36e79bb19e1e40eb" /><Relationship Type="http://schemas.openxmlformats.org/officeDocument/2006/relationships/slide" Target="/ppt/slides/slide3.xml" Id="Rd7ec020751ee4d8f" /><Relationship Type="http://schemas.openxmlformats.org/officeDocument/2006/relationships/slide" Target="/ppt/slides/slide4.xml" Id="R1e6a917410fe4d35" /><Relationship Type="http://schemas.openxmlformats.org/officeDocument/2006/relationships/slide" Target="/ppt/slides/slide5.xml" Id="Reb0aeb9a520b4f27" /><Relationship Type="http://schemas.openxmlformats.org/officeDocument/2006/relationships/slide" Target="/ppt/slides/slide6.xml" Id="Rc18126e0692b4a31" /><Relationship Type="http://schemas.openxmlformats.org/officeDocument/2006/relationships/slide" Target="/ppt/slides/slide7.xml" Id="Rc17e5f211f8a431e" /><Relationship Type="http://schemas.openxmlformats.org/officeDocument/2006/relationships/slide" Target="/ppt/slides/slide8.xml" Id="R333b7548eb8a49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0d04f5c22749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30771de1924ee3" /><Relationship Type="http://schemas.openxmlformats.org/officeDocument/2006/relationships/notesMaster" Target="/ppt/notesMasters/notesMaster1.xml" Id="R069106be4b5241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34ae27601b4112" /><Relationship Type="http://schemas.openxmlformats.org/officeDocument/2006/relationships/notesMaster" Target="/ppt/notesMasters/notesMaster1.xml" Id="R2f228c55bcfd4f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bedeae7be44749" /><Relationship Type="http://schemas.openxmlformats.org/officeDocument/2006/relationships/notesMaster" Target="/ppt/notesMasters/notesMaster1.xml" Id="R30dbd033af3740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3bc30efdf54b05" /><Relationship Type="http://schemas.openxmlformats.org/officeDocument/2006/relationships/notesMaster" Target="/ppt/notesMasters/notesMaster1.xml" Id="Rc8d09047a3c541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4f0bd00947447c" /><Relationship Type="http://schemas.openxmlformats.org/officeDocument/2006/relationships/notesMaster" Target="/ppt/notesMasters/notesMaster1.xml" Id="Rb1df7c610fd546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2dc54e45514d33" /><Relationship Type="http://schemas.openxmlformats.org/officeDocument/2006/relationships/notesMaster" Target="/ppt/notesMasters/notesMaster1.xml" Id="R23ae7a233de74a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467374a85d434d" /><Relationship Type="http://schemas.openxmlformats.org/officeDocument/2006/relationships/notesMaster" Target="/ppt/notesMasters/notesMaster1.xml" Id="Reae0d73717cb4d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7d279df00843af" /><Relationship Type="http://schemas.openxmlformats.org/officeDocument/2006/relationships/notesMaster" Target="/ppt/notesMasters/notesMaster1.xml" Id="R295ad334cc724d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DeFi Track and the public read-only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https://web-eight-chi-99.vercel.app/architecture</a:t>
            </a:r>
          </a:p>
          <a:p xmlns:a="http://schemas.openxmlformats.org/drawingml/2006/main">
            <a:r>
              <a:t>https://rpc.testnet.arc.network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https://www.encodeclub.com/my-programmes/arc-hackathon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c6c87d6e8840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dc48bf9ea6415c" /><Relationship Type="http://schemas.openxmlformats.org/officeDocument/2006/relationships/slideLayout" Target="/ppt/slideLayouts/slideLayout1.xml" Id="Ref3c290e650945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3c290e650945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e34155ec04a0a" /><Relationship Type="http://schemas.openxmlformats.org/officeDocument/2006/relationships/image" Target="/ppt/media/image.jpeg" Id="R4e936b57fa894218" /><Relationship Type="http://schemas.openxmlformats.org/officeDocument/2006/relationships/notesSlide" Target="/ppt/notesSlides/notesSlide1.xml" Id="R218aed5a22434d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7cc11b6b64fe4" /><Relationship Type="http://schemas.openxmlformats.org/officeDocument/2006/relationships/image" Target="/ppt/media/image2.jpeg" Id="Rfd0803116dc84a22" /><Relationship Type="http://schemas.openxmlformats.org/officeDocument/2006/relationships/notesSlide" Target="/ppt/notesSlides/notesSlide2.xml" Id="R462881c14fd64f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4737138d849f7" /><Relationship Type="http://schemas.openxmlformats.org/officeDocument/2006/relationships/image" Target="/ppt/media/image3.jpeg" Id="R8e596d34392047b7" /><Relationship Type="http://schemas.openxmlformats.org/officeDocument/2006/relationships/notesSlide" Target="/ppt/notesSlides/notesSlide3.xml" Id="Ra9fe3c2eec4c45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d4862ef214f4d" /><Relationship Type="http://schemas.openxmlformats.org/officeDocument/2006/relationships/image" Target="/ppt/media/image4.jpeg" Id="R7c3ad429dc224b01" /><Relationship Type="http://schemas.openxmlformats.org/officeDocument/2006/relationships/notesSlide" Target="/ppt/notesSlides/notesSlide4.xml" Id="Rb6b0fcba765141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67a291b2f4c30" /><Relationship Type="http://schemas.openxmlformats.org/officeDocument/2006/relationships/image" Target="/ppt/media/image.png" Id="R4188bd3ea46e424e" /><Relationship Type="http://schemas.openxmlformats.org/officeDocument/2006/relationships/notesSlide" Target="/ppt/notesSlides/notesSlide5.xml" Id="R23194c488adf4a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0d09145ad466a" /><Relationship Type="http://schemas.openxmlformats.org/officeDocument/2006/relationships/image" Target="/ppt/media/image5.jpeg" Id="Rec571d5daff94ba3" /><Relationship Type="http://schemas.openxmlformats.org/officeDocument/2006/relationships/notesSlide" Target="/ppt/notesSlides/notesSlide6.xml" Id="R9e74753585e147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93f59bbe44722" /><Relationship Type="http://schemas.openxmlformats.org/officeDocument/2006/relationships/image" Target="/ppt/media/image6.jpeg" Id="R679daa28745448bd" /><Relationship Type="http://schemas.openxmlformats.org/officeDocument/2006/relationships/notesSlide" Target="/ppt/notesSlides/notesSlide7.xml" Id="R193d02ccb57f41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47f71634d4d62" /><Relationship Type="http://schemas.openxmlformats.org/officeDocument/2006/relationships/notesSlide" Target="/ppt/notesSlides/notesSlide8.xml" Id="R82838ba6d5354f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4F150-98CA-4AAE-809E-E0EB85F0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14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5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36b57fa894218"/>
          <a:srcRect xmlns:a="http://schemas.openxmlformats.org/drawingml/2006/main" l="27721" t="0" r="277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514350"/>
            <a:ext cx="5391150" cy="5829300"/>
          </a:xfrm>
          <a:prstGeom xmlns:a="http://schemas.openxmlformats.org/drawingml/2006/main" prst="roundRect">
            <a:avLst>
              <a:gd name="adj" fmla="val 2120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0A6B2-C7B5-47BD-B523-BAAB5295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19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2D7D0"/>
                </a:solidFill>
              </a:defRPr>
            </a:pPr>
            <a:r>
              <a:rPr sz="1500" b="1">
                <a:solidFill>
                  <a:srgbClr val="42D7D0"/>
                </a:solidFill>
              </a:rPr>
              <a:t>DeFi Track | Arc Testnet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1BBD8-A58D-4DD8-AFF5-3DE4BD47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287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7FBFF"/>
                </a:solidFill>
              </a:defRPr>
            </a:pPr>
            <a:r>
              <a:rPr sz="3900" b="1">
                <a:solidFill>
                  <a:srgbClr val="F7FBFF"/>
                </a:solidFill>
              </a:rPr>
              <a:t>Arc USDC</a:t>
            </a:r>
          </a:p>
          <a:p xmlns:a="http://schemas.openxmlformats.org/drawingml/2006/main">
            <a:pPr>
              <a:defRPr sz="3900" b="1">
                <a:solidFill>
                  <a:srgbClr val="F7FBFF"/>
                </a:solidFill>
              </a:defRPr>
            </a:pPr>
            <a:r>
              <a:rPr sz="3900" b="1">
                <a:solidFill>
                  <a:srgbClr val="F7FBFF"/>
                </a:solidFill>
              </a:rPr>
              <a:t>Rebalancer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926BB-DBE0-4128-BC21-4CC5F2CD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BFF"/>
                </a:solidFill>
              </a:defRPr>
            </a:pPr>
            <a:r>
              <a:rPr sz="1950" b="0">
                <a:solidFill>
                  <a:srgbClr val="F7FBFF"/>
                </a:solidFill>
              </a:rPr>
              <a:t>Policy-bound treasury decisions before execution.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2CCA9-0FAD-4FEA-AA19-3A14ED35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148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2D7D0"/>
                </a:solidFill>
              </a:defRPr>
            </a:pPr>
            <a:r>
              <a:rPr sz="1350" b="1">
                <a:solidFill>
                  <a:srgbClr val="42D7D0"/>
                </a:solidFill>
              </a:rPr>
              <a:t>Arc + USDC + Circle Wallets + Gateway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5E9EA-0C6D-4DDF-AF1E-77CAACCD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054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2C6"/>
                </a:solidFill>
              </a:defRPr>
            </a:pPr>
            <a:r>
              <a:rPr sz="1275" b="0">
                <a:solidFill>
                  <a:srgbClr val="9FB2C6"/>
                </a:solidFill>
              </a:rPr>
              <a:t>Public MVP is read-only. No treasury transaction has been submitted.</a:t>
            </a:r>
          </a:p>
        </p:txBody>
      </p:sp>
    </p:spTree>
    <p:extLst>
      <p:ext uri="{BB962C8B-B14F-4D97-AF65-F5344CB8AC3E}">
        <p14:creationId xmlns:p14="http://schemas.microsoft.com/office/powerpoint/2010/main" val="17896219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5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D16F7-FF95-40C2-BE87-6BA83495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14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869E5-B6CE-4D1C-96A3-DB4C1FDF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85800"/>
            <a:ext cx="990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7FBFF"/>
                </a:solidFill>
              </a:defRPr>
            </a:pPr>
            <a:r>
              <a:rPr sz="2850" b="1">
                <a:solidFill>
                  <a:srgbClr val="F7FBFF"/>
                </a:solidFill>
              </a:rPr>
              <a:t>Treasury teams need a defensible decision before moving USDC.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803116dc84a22"/>
          <a:srcRect xmlns:a="http://schemas.openxmlformats.org/drawingml/2006/main" l="14850" t="0" r="148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67350" y="1695450"/>
            <a:ext cx="6115050" cy="4191000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1518A-0D83-46E1-8705-2B0DBCF8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47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2D7D0"/>
                </a:solidFill>
              </a:defRPr>
            </a:pPr>
            <a:r>
              <a:rPr sz="1050" b="1">
                <a:solidFill>
                  <a:srgbClr val="42D7D0"/>
                </a:solidFill>
              </a:rPr>
              <a:t>LIVE INPUTS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A12B6-8917-4795-8DD9-29444BB9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6695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7FBFF"/>
                </a:solidFill>
              </a:defRPr>
            </a:pPr>
            <a:r>
              <a:rPr sz="1725" b="0">
                <a:solidFill>
                  <a:srgbClr val="F7FBFF"/>
                </a:solidFill>
              </a:rPr>
              <a:t>Arc policy and executor balance</a:t>
            </a:r>
          </a:p>
          <a:p xmlns:a="http://schemas.openxmlformats.org/drawingml/2006/main">
            <a:pPr>
              <a:defRPr sz="1725" b="0">
                <a:solidFill>
                  <a:srgbClr val="F7FBFF"/>
                </a:solidFill>
              </a:defRPr>
            </a:pPr>
            <a:r>
              <a:rPr sz="1725" b="0">
                <a:solidFill>
                  <a:srgbClr val="F7FBFF"/>
                </a:solidFill>
              </a:rPr>
              <a:t>Circle control-plane readiness</a:t>
            </a:r>
          </a:p>
          <a:p xmlns:a="http://schemas.openxmlformats.org/drawingml/2006/main">
            <a:pPr>
              <a:defRPr sz="1725" b="0">
                <a:solidFill>
                  <a:srgbClr val="F7FBFF"/>
                </a:solidFill>
              </a:defRPr>
            </a:pPr>
            <a:r>
              <a:rPr sz="1725" b="0">
                <a:solidFill>
                  <a:srgbClr val="F7FBFF"/>
                </a:solidFill>
              </a:rPr>
              <a:t>Source quality on every 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90FAC-8030-4777-80F3-706764AF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14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9F5A"/>
                </a:solidFill>
              </a:defRPr>
            </a:pPr>
            <a:r>
              <a:rPr sz="1050" b="1">
                <a:solidFill>
                  <a:srgbClr val="FF9F5A"/>
                </a:solidFill>
              </a:rPr>
              <a:t>THE BOUNDARY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E6A68-F72D-4AEC-B755-84BCCA4B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52950"/>
            <a:ext cx="3714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FB2C6"/>
                </a:solidFill>
              </a:defRPr>
            </a:pPr>
            <a:r>
              <a:rPr sz="1575" b="0">
                <a:solidFill>
                  <a:srgbClr val="9FB2C6"/>
                </a:solidFill>
              </a:rPr>
              <a:t>The MVP produces evidence and a bounded recommendation. It does not expose a signer or treasury write path.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0894D-4607-4096-928F-73C2E282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FB2C6"/>
                </a:solidFill>
              </a:defRPr>
            </a:pPr>
            <a:r>
              <a:rPr sz="750" b="1">
                <a:solidFill>
                  <a:srgbClr val="9FB2C6"/>
                </a:solidFill>
              </a:rPr>
              <a:t>ARC USDC REBALANCER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A9B32-233A-4330-AB97-5A533A84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FB2C6"/>
                </a:solidFill>
              </a:defRPr>
            </a:pPr>
            <a:r>
              <a:rPr sz="750" b="1">
                <a:solidFill>
                  <a:srgbClr val="9FB2C6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977484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E5CDCF-6FA2-4265-A945-F2BA30B8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14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AFB02-B99B-4944-8DDD-B1C74955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858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7FBFF"/>
                </a:solidFill>
              </a:defRPr>
            </a:pPr>
            <a:r>
              <a:rPr sz="3000" b="1">
                <a:solidFill>
                  <a:srgbClr val="F7FBFF"/>
                </a:solidFill>
              </a:rPr>
              <a:t>One Arc policy produces three bounded outcomes.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F00E3-DFEE-4150-B1BB-AB17C6B1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335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2D7D0"/>
                </a:solidFill>
              </a:defRPr>
            </a:pPr>
            <a:r>
              <a:rPr sz="1350" b="0">
                <a:solidFill>
                  <a:srgbClr val="42D7D0"/>
                </a:solidFill>
              </a:rPr>
              <a:t>Policy: minimum 100 USDC | target 500 USDC | cap 200 USDC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96d34392047b7"/>
          <a:srcRect xmlns:a="http://schemas.openxmlformats.org/drawingml/2006/main" l="12029" t="0" r="120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6850" y="1828800"/>
            <a:ext cx="63055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662B4-91C5-4BC0-9B71-0A974879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1930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BFF"/>
                </a:solidFill>
              </a:defRPr>
            </a:pPr>
            <a:r>
              <a:rPr sz="3150" b="1">
                <a:solidFill>
                  <a:srgbClr val="F7FBFF"/>
                </a:solidFill>
              </a:rPr>
              <a:t>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AB7E5-074D-4A43-8D5A-9A4AF3B1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336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F5A"/>
                </a:solidFill>
              </a:defRPr>
            </a:pPr>
            <a:r>
              <a:rPr sz="1800" b="1">
                <a:solidFill>
                  <a:srgbClr val="FF9F5A"/>
                </a:solidFill>
              </a:rPr>
              <a:t>TOP UP 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772C8-7667-423E-8D4F-76A6DA92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BFF"/>
                </a:solidFill>
              </a:defRPr>
            </a:pPr>
            <a:r>
              <a:rPr sz="3150" b="1">
                <a:solidFill>
                  <a:srgbClr val="F7FBFF"/>
                </a:solidFill>
              </a:rPr>
              <a:t>500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F112B-73FB-4B48-B9BD-90F855D5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956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0E0A5"/>
                </a:solidFill>
              </a:defRPr>
            </a:pPr>
            <a:r>
              <a:rPr sz="1800" b="1">
                <a:solidFill>
                  <a:srgbClr val="70E0A5"/>
                </a:solidFill>
              </a:rPr>
              <a:t>HOLD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2F673-2887-4C24-A7EE-AE759D89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4340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BFF"/>
                </a:solidFill>
              </a:defRPr>
            </a:pPr>
            <a:r>
              <a:rPr sz="3150" b="1">
                <a:solidFill>
                  <a:srgbClr val="F7FBFF"/>
                </a:solidFill>
              </a:rPr>
              <a:t>700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564CF-9423-4528-B6C6-166382B6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577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F5A"/>
                </a:solidFill>
              </a:defRPr>
            </a:pPr>
            <a:r>
              <a:rPr sz="1800" b="1">
                <a:solidFill>
                  <a:srgbClr val="FF9F5A"/>
                </a:solidFill>
              </a:rPr>
              <a:t>TRIM 200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21829-55C4-44AD-B344-D3E6FD7A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2925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2C6"/>
                </a:solidFill>
              </a:defRPr>
            </a:pPr>
            <a:r>
              <a:rPr sz="1350" b="0">
                <a:solidFill>
                  <a:srgbClr val="9FB2C6"/>
                </a:solidFill>
              </a:rPr>
              <a:t>Every amount is capped by policy and exported for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53EAA-F078-48CB-A9A1-94DEE463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FB2C6"/>
                </a:solidFill>
              </a:defRPr>
            </a:pPr>
            <a:r>
              <a:rPr sz="750" b="1">
                <a:solidFill>
                  <a:srgbClr val="9FB2C6"/>
                </a:solidFill>
              </a:rPr>
              <a:t>ARC USDC REBALANCER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95C77-091B-48BB-B1A8-E1546A9E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FB2C6"/>
                </a:solidFill>
              </a:defRPr>
            </a:pPr>
            <a:r>
              <a:rPr sz="750" b="1">
                <a:solidFill>
                  <a:srgbClr val="9FB2C6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65209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5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E41B5-4E63-447E-BA9B-D71AE2A9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14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D46EB-E130-4BCD-B156-73B3C6BE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858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7FBFF"/>
                </a:solidFill>
              </a:defRPr>
            </a:pPr>
            <a:r>
              <a:rPr sz="3000" b="1">
                <a:solidFill>
                  <a:srgbClr val="F7FBFF"/>
                </a:solidFill>
              </a:rPr>
              <a:t>The output is reviewable, not executable.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ad429dc224b01"/>
          <a:srcRect xmlns:a="http://schemas.openxmlformats.org/drawingml/2006/main" l="8301" t="0" r="83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1676400"/>
            <a:ext cx="7353300" cy="4248150"/>
          </a:xfrm>
          <a:prstGeom xmlns:a="http://schemas.openxmlformats.org/drawingml/2006/main" prst="roundRect">
            <a:avLst>
              <a:gd name="adj" fmla="val 2691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14E36-A376-48A1-B57C-99E58D28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90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2D7D0"/>
                </a:solidFill>
              </a:defRPr>
            </a:pPr>
            <a:r>
              <a:rPr sz="1050" b="1">
                <a:solidFill>
                  <a:srgbClr val="42D7D0"/>
                </a:solidFill>
              </a:rPr>
              <a:t>ACTION PACK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1061D-7F7E-4ACE-9836-37F1301F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09800"/>
            <a:ext cx="266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7FBFF"/>
                </a:solidFill>
              </a:defRPr>
            </a:pPr>
            <a:r>
              <a:rPr sz="1575" b="0">
                <a:solidFill>
                  <a:srgbClr val="F7FBFF"/>
                </a:solidFill>
              </a:rPr>
              <a:t>Canonical USDC units</a:t>
            </a:r>
          </a:p>
          <a:p xmlns:a="http://schemas.openxmlformats.org/drawingml/2006/main">
            <a:pPr>
              <a:defRPr sz="1575" b="0">
                <a:solidFill>
                  <a:srgbClr val="F7FBFF"/>
                </a:solidFill>
              </a:defRPr>
            </a:pPr>
            <a:r>
              <a:rPr sz="1575" b="0">
                <a:solidFill>
                  <a:srgbClr val="F7FBFF"/>
                </a:solidFill>
              </a:rPr>
              <a:t>Arc chain ID 5042002</a:t>
            </a:r>
          </a:p>
          <a:p xmlns:a="http://schemas.openxmlformats.org/drawingml/2006/main">
            <a:pPr>
              <a:defRPr sz="1575" b="0">
                <a:solidFill>
                  <a:srgbClr val="F7FBFF"/>
                </a:solidFill>
              </a:defRPr>
            </a:pPr>
            <a:r>
              <a:rPr sz="1575" b="0">
                <a:solidFill>
                  <a:srgbClr val="F7FBFF"/>
                </a:solidFill>
              </a:rPr>
              <a:t>Operator and recipient unset</a:t>
            </a:r>
          </a:p>
          <a:p xmlns:a="http://schemas.openxmlformats.org/drawingml/2006/main">
            <a:pPr>
              <a:defRPr sz="1575" b="0">
                <a:solidFill>
                  <a:srgbClr val="F7FBFF"/>
                </a:solidFill>
              </a:defRPr>
            </a:pPr>
            <a:r>
              <a:rPr sz="1575" b="0">
                <a:solidFill>
                  <a:srgbClr val="F7FBFF"/>
                </a:solidFill>
              </a:rPr>
              <a:t>Receipt marked not published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8ABAF-2EC6-40E1-AE4F-C538AA31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76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9F5A"/>
                </a:solidFill>
              </a:defRPr>
            </a:pPr>
            <a:r>
              <a:rPr sz="1050" b="1">
                <a:solidFill>
                  <a:srgbClr val="FF9F5A"/>
                </a:solidFill>
              </a:rPr>
              <a:t>EXECUTION LOCKED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4A9EC-6465-4D27-8CA1-BEFCB525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9585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2C6"/>
                </a:solidFill>
              </a:defRPr>
            </a:pPr>
            <a:r>
              <a:rPr sz="1350" b="0">
                <a:solidFill>
                  <a:srgbClr val="9FB2C6"/>
                </a:solidFill>
              </a:rPr>
              <a:t>The public deployment exposes no private key, approval, transfer command, or signed execution 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A0176-D4B7-462C-844E-99948035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FB2C6"/>
                </a:solidFill>
              </a:defRPr>
            </a:pPr>
            <a:r>
              <a:rPr sz="750" b="1">
                <a:solidFill>
                  <a:srgbClr val="9FB2C6"/>
                </a:solidFill>
              </a:rPr>
              <a:t>ARC USDC REBALANCER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027D7-57BB-4663-A68A-DAFDBC36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FB2C6"/>
                </a:solidFill>
              </a:defRPr>
            </a:pPr>
            <a:r>
              <a:rPr sz="750" b="1">
                <a:solidFill>
                  <a:srgbClr val="9FB2C6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867635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5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8bd3ea46e42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416915-663C-4BDF-8D8C-7D5449BD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FB2C6"/>
                </a:solidFill>
              </a:defRPr>
            </a:pPr>
            <a:r>
              <a:rPr sz="750" b="1">
                <a:solidFill>
                  <a:srgbClr val="9FB2C6"/>
                </a:solidFill>
              </a:rPr>
              <a:t>ARC TESTNET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B9E67-BABD-4983-A071-E356ECB3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FB2C6"/>
                </a:solidFill>
              </a:defRPr>
            </a:pPr>
            <a:r>
              <a:rPr sz="750" b="1">
                <a:solidFill>
                  <a:srgbClr val="9FB2C6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292188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5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4113A-C9BE-47E3-AF60-FED9D665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14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6B4C4-D0EE-439C-990B-46DED3A4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858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7FBFF"/>
                </a:solidFill>
              </a:defRPr>
            </a:pPr>
            <a:r>
              <a:rPr sz="2850" b="1">
                <a:solidFill>
                  <a:srgbClr val="F7FBFF"/>
                </a:solidFill>
              </a:rPr>
              <a:t>The control loop is reproducible, and the transfer count is zero.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71d5daff94ba3"/>
          <a:srcRect xmlns:a="http://schemas.openxmlformats.org/drawingml/2006/main" l="10920" t="0" r="109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1657350"/>
            <a:ext cx="6953250" cy="4286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06F49-D4AA-4774-91E5-3F989F9C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42D7D0"/>
                </a:solidFill>
              </a:defRPr>
            </a:pPr>
            <a:r>
              <a:rPr sz="3600" b="1">
                <a:solidFill>
                  <a:srgbClr val="42D7D0"/>
                </a:solidFill>
              </a:rPr>
              <a:t>1,003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0D760-DA07-4B27-A54F-F602E2E0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57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FB2C6"/>
                </a:solidFill>
              </a:defRPr>
            </a:pPr>
            <a:r>
              <a:rPr sz="1500" b="0">
                <a:solidFill>
                  <a:srgbClr val="9FB2C6"/>
                </a:solidFill>
              </a:rPr>
              <a:t>deterministic balance 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CD12B-2544-4D1C-9115-FB509607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194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BFF"/>
                </a:solidFill>
              </a:defRPr>
            </a:pPr>
            <a:r>
              <a:rPr sz="3150" b="1">
                <a:solidFill>
                  <a:srgbClr val="F7FBFF"/>
                </a:solidFill>
              </a:rPr>
              <a:t>100.00%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99F0A2-3517-437A-A27D-78C5F0B6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71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FB2C6"/>
                </a:solidFill>
              </a:defRPr>
            </a:pPr>
            <a:r>
              <a:rPr sz="1500" b="0">
                <a:solidFill>
                  <a:srgbClr val="9FB2C6"/>
                </a:solidFill>
              </a:rPr>
              <a:t>expected-action agreement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EB4D0F-8BCF-437E-A18E-E427C842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29150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5A"/>
                </a:solidFill>
              </a:defRPr>
            </a:pPr>
            <a:r>
              <a:rPr sz="3600" b="1">
                <a:solidFill>
                  <a:srgbClr val="FF9F5A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D3496-849C-453E-9EF0-43FA3BF1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197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FB2C6"/>
                </a:solidFill>
              </a:defRPr>
            </a:pPr>
            <a:r>
              <a:rPr sz="1500" b="0">
                <a:solidFill>
                  <a:srgbClr val="9FB2C6"/>
                </a:solidFill>
              </a:rPr>
              <a:t>transactions submitted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B2B77-CAA9-49BB-AA9C-7EAEDDCA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810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FB2C6"/>
                </a:solidFill>
              </a:defRPr>
            </a:pPr>
            <a:r>
              <a:rPr sz="1050" b="0">
                <a:solidFill>
                  <a:srgbClr val="9FB2C6"/>
                </a:solidFill>
              </a:rPr>
              <a:t>Synthetic stress replay, not a historical treasury performance claim.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DED5C-A978-4FC3-9587-923A9409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FB2C6"/>
                </a:solidFill>
              </a:defRPr>
            </a:pPr>
            <a:r>
              <a:rPr sz="750" b="1">
                <a:solidFill>
                  <a:srgbClr val="9FB2C6"/>
                </a:solidFill>
              </a:rPr>
              <a:t>ARC USDC REBALANCER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C8D5C-73D8-4924-A1D1-A0D7C6A0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FB2C6"/>
                </a:solidFill>
              </a:defRPr>
            </a:pPr>
            <a:r>
              <a:rPr sz="750" b="1">
                <a:solidFill>
                  <a:srgbClr val="9FB2C6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671897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5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0F00E-48BA-49A3-B40A-DC1BEFEA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14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1B57D-556F-490F-BC92-BE694695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858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BFF"/>
                </a:solidFill>
              </a:defRPr>
            </a:pPr>
            <a:r>
              <a:rPr sz="3150" b="1">
                <a:solidFill>
                  <a:srgbClr val="F7FBFF"/>
                </a:solidFill>
              </a:rPr>
              <a:t>A natural fit for the DeFi Track.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daa28745448bd"/>
          <a:srcRect xmlns:a="http://schemas.openxmlformats.org/drawingml/2006/main" l="17599" t="0" r="17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1600200"/>
            <a:ext cx="5867400" cy="4362450"/>
          </a:xfrm>
          <a:prstGeom xmlns:a="http://schemas.openxmlformats.org/drawingml/2006/main" prst="roundRect">
            <a:avLst>
              <a:gd name="adj" fmla="val 262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6D286-E955-412B-BB71-4E35D657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09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D7D0"/>
                </a:solidFill>
              </a:defRPr>
            </a:pPr>
            <a:r>
              <a:rPr sz="1125" b="1">
                <a:solidFill>
                  <a:srgbClr val="42D7D0"/>
                </a:solidFill>
              </a:rPr>
              <a:t>MEANINGFUL ARC + USDC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83F35-5899-49B9-93A8-C93D403E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9800"/>
            <a:ext cx="390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BFF"/>
                </a:solidFill>
              </a:defRPr>
            </a:pPr>
            <a:r>
              <a:rPr sz="1650" b="0">
                <a:solidFill>
                  <a:srgbClr val="F7FBFF"/>
                </a:solidFill>
              </a:rPr>
              <a:t>Live policy and executor-balance reads drive every recommendation.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40649-DA44-4418-A959-447D47E0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D7D0"/>
                </a:solidFill>
              </a:defRPr>
            </a:pPr>
            <a:r>
              <a:rPr sz="1125" b="1">
                <a:solidFill>
                  <a:srgbClr val="42D7D0"/>
                </a:solidFill>
              </a:rPr>
              <a:t>TREASURY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FE469-B55F-487B-A22D-81261BB9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33800"/>
            <a:ext cx="390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BFF"/>
                </a:solidFill>
              </a:defRPr>
            </a:pPr>
            <a:r>
              <a:rPr sz="1650" b="0">
                <a:solidFill>
                  <a:srgbClr val="F7FBFF"/>
                </a:solidFill>
              </a:rPr>
              <a:t>Top up, hold, or trim is bounded by policy and exported as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FDED9-F37D-4A68-B3F7-CBFF2119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57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D7D0"/>
                </a:solidFill>
              </a:defRPr>
            </a:pPr>
            <a:r>
              <a:rPr sz="1125" b="1">
                <a:solidFill>
                  <a:srgbClr val="42D7D0"/>
                </a:solidFill>
              </a:rPr>
              <a:t>CIRCLE PRODUCTS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8ACA8-2BC1-434B-835C-86935003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780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FB2C6"/>
                </a:solidFill>
              </a:defRPr>
            </a:pPr>
            <a:r>
              <a:rPr sz="1500" b="0">
                <a:solidFill>
                  <a:srgbClr val="9FB2C6"/>
                </a:solidFill>
              </a:rPr>
              <a:t>Developer-controlled Wallets and Gateway are live readiness signals, not proof of transfer.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6F3E0-CC28-420A-ACD1-943F4811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FB2C6"/>
                </a:solidFill>
              </a:defRPr>
            </a:pPr>
            <a:r>
              <a:rPr sz="750" b="1">
                <a:solidFill>
                  <a:srgbClr val="9FB2C6"/>
                </a:solidFill>
              </a:rPr>
              <a:t>DEFI TRACK 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F955F-F09D-477D-AA9A-01A5B0C0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FB2C6"/>
                </a:solidFill>
              </a:defRPr>
            </a:pPr>
            <a:r>
              <a:rPr sz="750" b="1">
                <a:solidFill>
                  <a:srgbClr val="9FB2C6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072944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5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65D89-3F29-402D-A1BA-A1ED84D5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14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B06A1-86A5-49D4-8D52-EA5A69F0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7FBFF"/>
                </a:solidFill>
              </a:defRPr>
            </a:pPr>
            <a:r>
              <a:rPr sz="3900" b="1">
                <a:solidFill>
                  <a:srgbClr val="F7FBFF"/>
                </a:solidFill>
              </a:rPr>
              <a:t>Proof before execution.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0A501-037F-46BD-981C-1A1FDF29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81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2D7D0"/>
                </a:solidFill>
              </a:defRPr>
            </a:pPr>
            <a:r>
              <a:rPr sz="2025" b="0">
                <a:solidFill>
                  <a:srgbClr val="42D7D0"/>
                </a:solidFill>
              </a:rPr>
              <a:t>Open the dashboard. Verify the policy. Replay the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907EE-BAE8-4735-AEB4-6F9433C5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57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2C6"/>
                </a:solidFill>
              </a:defRPr>
            </a:pPr>
            <a:r>
              <a:rPr sz="1200" b="1">
                <a:solidFill>
                  <a:srgbClr val="9FB2C6"/>
                </a:solidFill>
              </a:rPr>
              <a:t>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B15CC-8D80-4D7D-B28C-98203977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85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BFF"/>
                </a:solidFill>
              </a:defRPr>
            </a:pPr>
            <a:r>
              <a:rPr sz="1950" b="0">
                <a:solidFill>
                  <a:srgbClr val="F7FBFF"/>
                </a:solidFill>
              </a:rPr>
              <a:t>web-eight-chi-99.vercel.app/dashboard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8A85F-FEC6-41A4-87DD-CBD7E483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76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2C6"/>
                </a:solidFill>
              </a:defRPr>
            </a:pPr>
            <a:r>
              <a:rPr sz="1200" b="1">
                <a:solidFill>
                  <a:srgbClr val="9FB2C6"/>
                </a:solidFill>
              </a:rPr>
              <a:t>Repository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DB40B-4AD6-4B34-934F-87DC994E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577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BFF"/>
                </a:solidFill>
              </a:defRPr>
            </a:pPr>
            <a:r>
              <a:rPr sz="1950" b="0">
                <a:solidFill>
                  <a:srgbClr val="F7FBFF"/>
                </a:solidFill>
              </a:rPr>
              <a:t>github.com/sin199/arc-usdc-rebalancer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F0887-19AA-4B8E-AD88-2BB5A930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483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9F5A"/>
                </a:solidFill>
              </a:defRPr>
            </a:pPr>
            <a:r>
              <a:rPr sz="1500" b="1">
                <a:solidFill>
                  <a:srgbClr val="FF9F5A"/>
                </a:solidFill>
              </a:rPr>
              <a:t>No completed treasury transfer is claimed.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0AC53-9A02-4F0E-AADD-F863D3B8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FB2C6"/>
                </a:solidFill>
              </a:defRPr>
            </a:pPr>
            <a:r>
              <a:rPr sz="750" b="1">
                <a:solidFill>
                  <a:srgbClr val="9FB2C6"/>
                </a:solidFill>
              </a:rPr>
              <a:t>DEFI TRACK | ARC TESTNET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4C3C6-DAC3-41D5-9194-2BF7DC15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FB2C6"/>
                </a:solidFill>
              </a:defRPr>
            </a:pPr>
            <a:r>
              <a:rPr sz="750" b="1">
                <a:solidFill>
                  <a:srgbClr val="9FB2C6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187150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2026-07-28T11:51:33.1010000Z</dcterms:created>
  <dcterms:modified xsi:type="dcterms:W3CDTF">2026-07-28T11:51:33.1010000Z</dcterms:modified>
</coreProperties>
</file>